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65" r:id="rId12"/>
    <p:sldId id="266" r:id="rId13"/>
    <p:sldId id="264" r:id="rId1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73678DE0-BDB9-434F-A6CF-71FE4D0C0751}">
          <p14:sldIdLst>
            <p14:sldId id="256"/>
            <p14:sldId id="257"/>
            <p14:sldId id="258"/>
            <p14:sldId id="259"/>
            <p14:sldId id="260"/>
            <p14:sldId id="262"/>
            <p14:sldId id="263"/>
            <p14:sldId id="265"/>
            <p14:sldId id="266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9A2A4-96AA-FBAC-9193-CAAA96C6F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20A383-5E0C-1927-8BD1-57A51357E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648072-7AF2-4D5A-879A-5119D5F98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FE61F-AAB1-4B6D-BB97-91D6A1EE04FB}" type="datetimeFigureOut">
              <a:rPr lang="es-CO" smtClean="0"/>
              <a:t>6/10/2023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0214BD-AAA2-115D-8675-D99DE6BF0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B3F2E4-E6B3-54E4-3C10-CB7802429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8CB81-4E99-43CC-9A33-B9C00C6DE6D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9574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2434F4-E672-F2CA-35CE-53A1FC86B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011C33-642A-F53B-233B-CE5876694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FF665E-4C03-5490-F85C-E268FE6CA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FE61F-AAB1-4B6D-BB97-91D6A1EE04FB}" type="datetimeFigureOut">
              <a:rPr lang="es-CO" smtClean="0"/>
              <a:t>6/10/2023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8B63F8-B78F-7AB1-3E52-8A8CF678B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7D4DF4-6ADF-47E1-CC0C-954CD0653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8CB81-4E99-43CC-9A33-B9C00C6DE6D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90712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570A9C-82CB-627C-A31B-CB1064774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A08EC4-4A1C-9428-D27A-18F4E6064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4BE976-0F3E-1A5C-A482-0355A1A82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FE61F-AAB1-4B6D-BB97-91D6A1EE04FB}" type="datetimeFigureOut">
              <a:rPr lang="es-CO" smtClean="0"/>
              <a:t>6/10/2023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DBF19C-C6FC-4C9B-11CF-DCDFEFBB0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AFF36D-9DDE-4CAA-C5EB-4DB6D9CA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8CB81-4E99-43CC-9A33-B9C00C6DE6D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84743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B7174-F72C-06FB-E152-78A54899C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FEDCB5-7517-91CF-B20B-7CE37A4AC2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FCDEA96-9AE2-DF55-74D2-FD4CF54E9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703F8A-77E6-A3E9-11DA-93D8D62B7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FE61F-AAB1-4B6D-BB97-91D6A1EE04FB}" type="datetimeFigureOut">
              <a:rPr lang="es-CO" smtClean="0"/>
              <a:t>6/10/2023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EE934B-195D-68E7-C942-6F6AE04D8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A0E28E-561C-93A1-D40B-897573942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8CB81-4E99-43CC-9A33-B9C00C6DE6D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65560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015E1F-568D-3382-3498-7C2BE5FFE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D8C910-60C3-9FBE-188D-3CE527BAE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47BF6A-5403-B214-D6BB-C6348A719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30E98F6-F9A5-A1BB-0F33-497EF7BB70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B27683F-A6D4-7930-8B71-05A9827C78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EC722D1-1AD9-7FAF-9216-02D4C2AFC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FE61F-AAB1-4B6D-BB97-91D6A1EE04FB}" type="datetimeFigureOut">
              <a:rPr lang="es-CO" smtClean="0"/>
              <a:t>6/10/2023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A9E2A67-4CCB-6B4D-296C-9CB3FDF09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DD54268-CDC3-1416-5EE3-CBB204862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8CB81-4E99-43CC-9A33-B9C00C6DE6D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7998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32485-30FF-E072-B0A7-494FB6EAB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C00F4C9-4C53-605D-B915-13F6E70AD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FE61F-AAB1-4B6D-BB97-91D6A1EE04FB}" type="datetimeFigureOut">
              <a:rPr lang="es-CO" smtClean="0"/>
              <a:t>6/10/2023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5219EEB-9357-49FA-00AB-1C71D9C0C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749CB9D-1AEC-777E-D025-EC418D870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8CB81-4E99-43CC-9A33-B9C00C6DE6D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2218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E3BF528-A5A1-583B-F52A-214031CA4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FE61F-AAB1-4B6D-BB97-91D6A1EE04FB}" type="datetimeFigureOut">
              <a:rPr lang="es-CO" smtClean="0"/>
              <a:t>6/10/2023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911E41E-7837-703E-46FD-0FC0A9ACA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66EE7B-A94A-46BB-9B10-B156881D8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8CB81-4E99-43CC-9A33-B9C00C6DE6D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8131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4F93A6-3CF7-CBD0-A8D9-B7F94BD27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5181DA-F915-B73D-6F5C-444289C22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9FD9ED8-F5B9-F63D-A6A0-6BD5F36E1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79B8DB-3591-BEC1-03AE-8FF2DDEC2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FE61F-AAB1-4B6D-BB97-91D6A1EE04FB}" type="datetimeFigureOut">
              <a:rPr lang="es-CO" smtClean="0"/>
              <a:t>6/10/2023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FE23534-E49E-A8DF-8624-316EEB98F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7B53E3-B20D-FCE0-75D8-E060AA45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8CB81-4E99-43CC-9A33-B9C00C6DE6D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76662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A4ED15-5751-6392-A96D-2AF97DAF0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CBD523E-7EB9-8DF9-F959-3977058C50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FBBA80-2E78-7C32-3112-52ADEC528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6F5104-5AD6-E7FA-DE61-727161D89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FE61F-AAB1-4B6D-BB97-91D6A1EE04FB}" type="datetimeFigureOut">
              <a:rPr lang="es-CO" smtClean="0"/>
              <a:t>6/10/2023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DDB480-D570-3282-6D7C-78CF7ECC3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2A3A1C-A671-42D3-7F17-BCF8046E4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8CB81-4E99-43CC-9A33-B9C00C6DE6D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4010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CE8BC9-555F-8236-CA86-EE2EC480A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733F6C3-6FA1-E016-22FA-E32F0B728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A88C52-29DC-E4F3-575A-0D7F0D115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FE61F-AAB1-4B6D-BB97-91D6A1EE04FB}" type="datetimeFigureOut">
              <a:rPr lang="es-CO" smtClean="0"/>
              <a:t>6/10/2023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0A4D74-BA4C-3DD0-FAFF-9F2F1994B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4B85E4-323B-7152-5C07-7E873A582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8CB81-4E99-43CC-9A33-B9C00C6DE6D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83345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DB037D4-CA04-004D-6AB8-8245ECF1B5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6596FC1-DF59-657A-8B43-AB2DE2211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54E3AC-879C-0EF3-5486-6460E0124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FE61F-AAB1-4B6D-BB97-91D6A1EE04FB}" type="datetimeFigureOut">
              <a:rPr lang="es-CO" smtClean="0"/>
              <a:t>6/10/2023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4CADAD-48B0-8B8B-C387-1FC6E86E1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0B4B02-33E3-10E3-B544-7BFDB442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8CB81-4E99-43CC-9A33-B9C00C6DE6D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48625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29C660F-3CBC-F279-19BC-615F551A9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3EE017-D8B6-B46F-4DE3-DA8FF6A71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2380DF-4DD7-DEC2-76C7-66680E6EA4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FE61F-AAB1-4B6D-BB97-91D6A1EE04FB}" type="datetimeFigureOut">
              <a:rPr lang="es-CO" smtClean="0"/>
              <a:t>6/10/2023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B87DF6-0EC8-6C5C-D1CB-96A0024EEB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BBC338-BCAE-E3F7-789F-AB8C29FB9D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8CB81-4E99-43CC-9A33-B9C00C6DE6D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172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5660E8-7DCB-BB6E-2998-3E671FD446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MACHINE LEARNING</a:t>
            </a:r>
            <a:br>
              <a:rPr lang="es-CO" dirty="0"/>
            </a:b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AD3132-725C-B1B2-C42E-751EAE1236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74504"/>
            <a:ext cx="9144000" cy="2183296"/>
          </a:xfrm>
        </p:spPr>
        <p:txBody>
          <a:bodyPr>
            <a:normAutofit lnSpcReduction="10000"/>
          </a:bodyPr>
          <a:lstStyle/>
          <a:p>
            <a:r>
              <a:rPr lang="es-CO" dirty="0"/>
              <a:t>INTRODUCCIÓN AL MODELO DE REGRESIÓN LINEAL</a:t>
            </a:r>
          </a:p>
          <a:p>
            <a:endParaRPr lang="es-CO" dirty="0"/>
          </a:p>
          <a:p>
            <a:endParaRPr lang="es-CO" dirty="0"/>
          </a:p>
          <a:p>
            <a:r>
              <a:rPr lang="es-CO" dirty="0"/>
              <a:t>YOMIN JARAMILLO MÚNERA</a:t>
            </a:r>
          </a:p>
          <a:p>
            <a:r>
              <a:rPr lang="es-CO" dirty="0"/>
              <a:t>yominjaramillo2283@correo.itm.edu.co</a:t>
            </a:r>
          </a:p>
        </p:txBody>
      </p:sp>
    </p:spTree>
    <p:extLst>
      <p:ext uri="{BB962C8B-B14F-4D97-AF65-F5344CB8AC3E}">
        <p14:creationId xmlns:p14="http://schemas.microsoft.com/office/powerpoint/2010/main" val="2424841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64172-9B05-4497-B344-64C7243AC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RECETA BÁSICA DEL MACHINE LEARNING: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BCA2FF-65BC-9BF2-3E23-D2C7413D7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s-CO" dirty="0"/>
              <a:t>Entender tu tarea e identificar que tipo de algoritmo de machine </a:t>
            </a:r>
            <a:r>
              <a:rPr lang="es-CO" dirty="0" err="1"/>
              <a:t>learning</a:t>
            </a:r>
            <a:r>
              <a:rPr lang="es-CO" dirty="0"/>
              <a:t> puede ayudarte a resolverla (Clasificación, regresión, </a:t>
            </a:r>
            <a:r>
              <a:rPr lang="es-CO" dirty="0" err="1"/>
              <a:t>clustering</a:t>
            </a:r>
            <a:r>
              <a:rPr lang="es-CO" dirty="0"/>
              <a:t>, reducción de dimensionalidad, modelos generativos, entre otros).</a:t>
            </a:r>
          </a:p>
          <a:p>
            <a:pPr marL="514350" indent="-514350">
              <a:buAutoNum type="arabicPeriod"/>
            </a:pPr>
            <a:r>
              <a:rPr lang="es-CO" dirty="0"/>
              <a:t>Construye tu base de datos, la cual esta compuesta por muestras y características. Ten en cuenta que si tu problema se basa en aprendizaje supervisado, tu base de datos también debe considerar los targets.</a:t>
            </a:r>
          </a:p>
          <a:p>
            <a:pPr marL="0" indent="0">
              <a:buNone/>
            </a:pPr>
            <a:r>
              <a:rPr lang="es-CO" dirty="0"/>
              <a:t>	</a:t>
            </a:r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3432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64172-9B05-4497-B344-64C7243AC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RECETA BÁSICA DEL MACHINE LEARNING: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BCA2FF-65BC-9BF2-3E23-D2C7413D7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6434" y="1825625"/>
            <a:ext cx="10227365" cy="4351338"/>
          </a:xfrm>
        </p:spPr>
        <p:txBody>
          <a:bodyPr/>
          <a:lstStyle/>
          <a:p>
            <a:pPr marL="0" indent="0">
              <a:buNone/>
            </a:pPr>
            <a:r>
              <a:rPr lang="es-CO" dirty="0"/>
              <a:t>3. Escoge el tipo de modelo que vas a utilizar para resolver tu problema.</a:t>
            </a:r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r>
              <a:rPr lang="es-CO" dirty="0"/>
              <a:t>4. Maximiza el desempeño de tu modelo mediante la estimación de la función del costo y la actualización de los parámetros del mismo. En este punto también es importante utilizar buenas prácticas de limpieza y procesamiento de datos</a:t>
            </a:r>
          </a:p>
          <a:p>
            <a:pPr marL="0" indent="0">
              <a:buNone/>
            </a:pPr>
            <a:r>
              <a:rPr lang="es-CO" dirty="0"/>
              <a:t>	</a:t>
            </a:r>
          </a:p>
          <a:p>
            <a:pPr marL="0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44160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F42C16-190C-80F7-BFF4-A10EECB08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MODELO DE REGRESIÓN LINEAL UNIVARIABLE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6C3979B-0478-8FEA-3744-A06CEEBB8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982" y="1545326"/>
            <a:ext cx="8918713" cy="447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270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43D47C-2E6E-0B9D-5575-AF7D994A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MODELO DE REGRESIÓN LINEAL UNIVARIABLE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A9179B-4D8B-85EF-2653-E0F3EA7F2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0835"/>
            <a:ext cx="4873487" cy="3916088"/>
          </a:xfrm>
        </p:spPr>
        <p:txBody>
          <a:bodyPr/>
          <a:lstStyle/>
          <a:p>
            <a:pPr algn="just"/>
            <a:r>
              <a:rPr lang="es-CO" dirty="0"/>
              <a:t>El modelo de regresión lineal es un algoritmo de aprendizaje supervisado, cuyo enfoque de aprendizaje puede resumirse mediante el siguiente diagrama</a:t>
            </a:r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9A54F11-84A7-B403-CE0D-28C507FCB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31" y="1690688"/>
            <a:ext cx="5229225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01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43D47C-2E6E-0B9D-5575-AF7D994A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MODELO DE REGRESIÓN LINEAL UNIVARIABLE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A9179B-4D8B-85EF-2653-E0F3EA7F2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0835"/>
            <a:ext cx="11049000" cy="356483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s-CO" dirty="0"/>
              <a:t>Teniendo en cuenta que todo modelo lineal se puede definir mediante :</a:t>
            </a:r>
          </a:p>
          <a:p>
            <a:pPr algn="just"/>
            <a:endParaRPr lang="es-CO" dirty="0"/>
          </a:p>
          <a:p>
            <a:pPr marL="0" indent="0" algn="just">
              <a:buNone/>
            </a:pPr>
            <a:endParaRPr lang="es-CO" dirty="0"/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r>
              <a:rPr lang="es-CO" dirty="0"/>
              <a:t>Se deben inicializar los pesos w y el </a:t>
            </a:r>
            <a:r>
              <a:rPr lang="es-CO" dirty="0" err="1"/>
              <a:t>bias</a:t>
            </a:r>
            <a:r>
              <a:rPr lang="es-CO" dirty="0"/>
              <a:t> para hacer una primera estimación.</a:t>
            </a:r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r>
              <a:rPr lang="es-CO" dirty="0"/>
              <a:t>A partir de la primera estimación se encuentra la función de costo, la cual se buscará minimizar.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50FCEB9-998D-479E-0A6C-B62B5111C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189" y="2837001"/>
            <a:ext cx="2889519" cy="59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84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43D47C-2E6E-0B9D-5575-AF7D994A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MODELO DE REGRESIÓN LINEAL UNIVARIABLE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A9179B-4D8B-85EF-2653-E0F3EA7F2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0835"/>
            <a:ext cx="11049000" cy="356483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O" dirty="0"/>
              <a:t>Función de costo:</a:t>
            </a:r>
          </a:p>
          <a:p>
            <a:pPr algn="just"/>
            <a:endParaRPr lang="es-CO" dirty="0"/>
          </a:p>
          <a:p>
            <a:pPr algn="just"/>
            <a:endParaRPr lang="es-CO" dirty="0"/>
          </a:p>
          <a:p>
            <a:pPr algn="just"/>
            <a:endParaRPr lang="es-CO" dirty="0"/>
          </a:p>
          <a:p>
            <a:pPr algn="just"/>
            <a:endParaRPr lang="es-CO" dirty="0"/>
          </a:p>
          <a:p>
            <a:pPr marL="0" indent="0" algn="just">
              <a:buNone/>
            </a:pPr>
            <a:r>
              <a:rPr lang="es-CO" dirty="0"/>
              <a:t>Se hace una estimación del costo por un numero de iteraciones dado del algoritmo, las cuales son normalmente llamadas épocas.</a:t>
            </a:r>
          </a:p>
          <a:p>
            <a:pPr marL="0" indent="0" algn="just">
              <a:buNone/>
            </a:pPr>
            <a:endParaRPr lang="es-CO" dirty="0"/>
          </a:p>
          <a:p>
            <a:pPr marL="0" indent="0" algn="just">
              <a:buNone/>
            </a:pPr>
            <a:endParaRPr lang="es-CO" dirty="0"/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81C8F9D-DE22-136E-E268-84EFED7F6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759" y="2641738"/>
            <a:ext cx="4926736" cy="157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62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43D47C-2E6E-0B9D-5575-AF7D994A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MODELO DE REGRESIÓN LINEAL UNIVARIABLE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A9179B-4D8B-85EF-2653-E0F3EA7F2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9043"/>
            <a:ext cx="11049000" cy="3564835"/>
          </a:xfrm>
        </p:spPr>
        <p:txBody>
          <a:bodyPr>
            <a:normAutofit/>
          </a:bodyPr>
          <a:lstStyle/>
          <a:p>
            <a:pPr algn="just"/>
            <a:endParaRPr lang="es-CO" dirty="0"/>
          </a:p>
          <a:p>
            <a:pPr algn="just"/>
            <a:endParaRPr lang="es-CO" dirty="0"/>
          </a:p>
          <a:p>
            <a:pPr algn="just"/>
            <a:endParaRPr lang="es-CO" dirty="0"/>
          </a:p>
          <a:p>
            <a:pPr algn="just"/>
            <a:endParaRPr lang="es-CO" dirty="0"/>
          </a:p>
          <a:p>
            <a:pPr marL="0" indent="0" algn="just">
              <a:buNone/>
            </a:pPr>
            <a:endParaRPr lang="es-CO" dirty="0"/>
          </a:p>
          <a:p>
            <a:pPr marL="0" indent="0" algn="just">
              <a:buNone/>
            </a:pPr>
            <a:endParaRPr lang="es-CO" dirty="0"/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0AF9DE1-FF69-BE59-32A0-8397CA395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524" y="1806575"/>
            <a:ext cx="720090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970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43D47C-2E6E-0B9D-5575-AF7D994A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MODELO DE REGRESIÓN LINEAL UNIVARIABLE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A9179B-4D8B-85EF-2653-E0F3EA7F2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9043"/>
            <a:ext cx="11049000" cy="3564835"/>
          </a:xfrm>
        </p:spPr>
        <p:txBody>
          <a:bodyPr>
            <a:normAutofit/>
          </a:bodyPr>
          <a:lstStyle/>
          <a:p>
            <a:pPr algn="just"/>
            <a:endParaRPr lang="es-CO" dirty="0"/>
          </a:p>
          <a:p>
            <a:pPr algn="just"/>
            <a:endParaRPr lang="es-CO" dirty="0"/>
          </a:p>
          <a:p>
            <a:pPr algn="just"/>
            <a:endParaRPr lang="es-CO" dirty="0"/>
          </a:p>
          <a:p>
            <a:pPr algn="just"/>
            <a:endParaRPr lang="es-CO" dirty="0"/>
          </a:p>
          <a:p>
            <a:pPr marL="0" indent="0" algn="just">
              <a:buNone/>
            </a:pPr>
            <a:endParaRPr lang="es-CO" dirty="0"/>
          </a:p>
          <a:p>
            <a:pPr marL="0" indent="0" algn="just">
              <a:buNone/>
            </a:pPr>
            <a:endParaRPr lang="es-CO" dirty="0"/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BCFF0FF-C391-F0F8-BCA6-CA4DCF629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437" y="1690688"/>
            <a:ext cx="7477125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27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43D47C-2E6E-0B9D-5575-AF7D994A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MODELO DE REGRESIÓN LINEAL UNIVARIABLE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A9179B-4D8B-85EF-2653-E0F3EA7F2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9043"/>
            <a:ext cx="11049000" cy="356483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O" dirty="0"/>
              <a:t>Gradiente descendente: Los nuevos parámetros de peso y el </a:t>
            </a:r>
            <a:r>
              <a:rPr lang="es-CO" dirty="0" err="1"/>
              <a:t>bias</a:t>
            </a:r>
            <a:r>
              <a:rPr lang="es-CO" dirty="0"/>
              <a:t>, son estimados mediante el gradiente que minimiza la función de costo.</a:t>
            </a:r>
          </a:p>
          <a:p>
            <a:pPr algn="just"/>
            <a:endParaRPr lang="es-CO" dirty="0"/>
          </a:p>
          <a:p>
            <a:pPr algn="just"/>
            <a:endParaRPr lang="es-CO" dirty="0"/>
          </a:p>
          <a:p>
            <a:pPr algn="just"/>
            <a:endParaRPr lang="es-CO" dirty="0"/>
          </a:p>
          <a:p>
            <a:pPr algn="just"/>
            <a:endParaRPr lang="es-CO" dirty="0"/>
          </a:p>
          <a:p>
            <a:pPr marL="0" indent="0" algn="just">
              <a:buNone/>
            </a:pPr>
            <a:endParaRPr lang="es-CO" dirty="0"/>
          </a:p>
          <a:p>
            <a:pPr marL="0" indent="0" algn="just">
              <a:buNone/>
            </a:pPr>
            <a:endParaRPr lang="es-CO" dirty="0"/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6E03B90-95D7-4B13-6D1B-8E430F003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836517"/>
            <a:ext cx="6944139" cy="38227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5A9AEC1-FC31-BF26-CBA4-60AEA8116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801" y="3480558"/>
            <a:ext cx="3571875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5647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C44AA9CD0F504E8173EF0FE7907513" ma:contentTypeVersion="4" ma:contentTypeDescription="Create a new document." ma:contentTypeScope="" ma:versionID="890af289131c1570f714f99524c5bd24">
  <xsd:schema xmlns:xsd="http://www.w3.org/2001/XMLSchema" xmlns:xs="http://www.w3.org/2001/XMLSchema" xmlns:p="http://schemas.microsoft.com/office/2006/metadata/properties" xmlns:ns2="4a1db00e-4677-40a0-bc5b-26d40ad72ca8" targetNamespace="http://schemas.microsoft.com/office/2006/metadata/properties" ma:root="true" ma:fieldsID="a87b88671a6892a57b3cdfac8b15e83d" ns2:_="">
    <xsd:import namespace="4a1db00e-4677-40a0-bc5b-26d40ad72c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1db00e-4677-40a0-bc5b-26d40ad72c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C3CFEE-6E45-4B4C-B073-29486AB9B70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5B65C33-03FC-4A44-BDDF-38ED6BEA48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8E997C-0A5F-40B0-B6C1-39DCFD7DF5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a1db00e-4677-40a0-bc5b-26d40ad72c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315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de Office</vt:lpstr>
      <vt:lpstr>MACHINE LEARNING </vt:lpstr>
      <vt:lpstr>RECETA BÁSICA DEL MACHINE LEARNING:</vt:lpstr>
      <vt:lpstr>RECETA BÁSICA DEL MACHINE LEARNING:</vt:lpstr>
      <vt:lpstr>MODELO DE REGRESIÓN LINEAL UNIVARIABLE</vt:lpstr>
      <vt:lpstr>MODELO DE REGRESIÓN LINEAL UNIVARIABLE</vt:lpstr>
      <vt:lpstr>MODELO DE REGRESIÓN LINEAL UNIVARIABLE</vt:lpstr>
      <vt:lpstr>MODELO DE REGRESIÓN LINEAL UNIVARIABLE</vt:lpstr>
      <vt:lpstr>MODELO DE REGRESIÓN LINEAL UNIVARIABLE</vt:lpstr>
      <vt:lpstr>MODELO DE REGRESIÓN LINEAL UNIVARIABLE</vt:lpstr>
      <vt:lpstr>MODELO DE REGRESIÓN LINEAL UNIVARIABLE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YE JM</dc:creator>
  <cp:lastModifiedBy>YE JM</cp:lastModifiedBy>
  <cp:revision>6</cp:revision>
  <dcterms:created xsi:type="dcterms:W3CDTF">2023-04-21T22:19:23Z</dcterms:created>
  <dcterms:modified xsi:type="dcterms:W3CDTF">2023-10-06T23:54:56Z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0x010100EFC44AA9CD0F504E8173EF0FE7907513</vt:lpwstr>
  </property>
</Properties>
</file>